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63" r:id="rId5"/>
    <p:sldId id="265" r:id="rId6"/>
    <p:sldId id="266" r:id="rId7"/>
    <p:sldId id="261" r:id="rId8"/>
    <p:sldId id="258" r:id="rId9"/>
    <p:sldId id="262" r:id="rId10"/>
    <p:sldId id="259" r:id="rId11"/>
    <p:sldId id="264" r:id="rId12"/>
    <p:sldId id="260" r:id="rId13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ecodesamsung.com/SRIB-PRISM/25ST17_Plant_and_Disease_Classification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hyperlink" Target="https://www.kaggle.com/datasets/vishwaraj1523/mergerplantdataset" TargetMode="External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F3085-0640-FFFD-6DCE-C35DE5D95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E0FF6C-A1DC-02CE-5B24-7753D05E7121}"/>
              </a:ext>
            </a:extLst>
          </p:cNvPr>
          <p:cNvSpPr/>
          <p:nvPr/>
        </p:nvSpPr>
        <p:spPr>
          <a:xfrm>
            <a:off x="219737" y="706508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26B44A-2DBD-B15F-BA66-4ADB7CE990DA}"/>
              </a:ext>
            </a:extLst>
          </p:cNvPr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C2365-E10B-E661-AC23-2E8DE0F2DC24}"/>
              </a:ext>
            </a:extLst>
          </p:cNvPr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4BEB9-3A24-1B4F-E976-7DD36A7BCD12}"/>
              </a:ext>
            </a:extLst>
          </p:cNvPr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3B8DF3-2765-9AB5-1039-0B6311EA4DA2}"/>
              </a:ext>
            </a:extLst>
          </p:cNvPr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3F3FE5-EA5E-4A21-818E-DA02B1D28328}"/>
              </a:ext>
            </a:extLst>
          </p:cNvPr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B4DEB62-1843-8E07-6F73-5010AC5345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5F79596-4BE7-A195-E6C2-AA1523F9EBC5}"/>
              </a:ext>
            </a:extLst>
          </p:cNvPr>
          <p:cNvSpPr/>
          <p:nvPr/>
        </p:nvSpPr>
        <p:spPr>
          <a:xfrm>
            <a:off x="275616" y="1974891"/>
            <a:ext cx="11497696" cy="42423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2BF7E4-9681-012A-0147-F4DBFF3B1FFB}"/>
              </a:ext>
            </a:extLst>
          </p:cNvPr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E054F1-110A-244D-1C4E-432465D60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845498"/>
              </p:ext>
            </p:extLst>
          </p:nvPr>
        </p:nvGraphicFramePr>
        <p:xfrm>
          <a:off x="2085427" y="2998492"/>
          <a:ext cx="7034719" cy="2042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23">
                  <a:extLst>
                    <a:ext uri="{9D8B030D-6E8A-4147-A177-3AD203B41FA5}">
                      <a16:colId xmlns:a16="http://schemas.microsoft.com/office/drawing/2014/main" val="1669975924"/>
                    </a:ext>
                  </a:extLst>
                </a:gridCol>
                <a:gridCol w="2192190">
                  <a:extLst>
                    <a:ext uri="{9D8B030D-6E8A-4147-A177-3AD203B41FA5}">
                      <a16:colId xmlns:a16="http://schemas.microsoft.com/office/drawing/2014/main" val="1960648832"/>
                    </a:ext>
                  </a:extLst>
                </a:gridCol>
                <a:gridCol w="2344906">
                  <a:extLst>
                    <a:ext uri="{9D8B030D-6E8A-4147-A177-3AD203B41FA5}">
                      <a16:colId xmlns:a16="http://schemas.microsoft.com/office/drawing/2014/main" val="2717227402"/>
                    </a:ext>
                  </a:extLst>
                </a:gridCol>
              </a:tblGrid>
              <a:tr h="510659">
                <a:tc>
                  <a:txBody>
                    <a:bodyPr/>
                    <a:lstStyle/>
                    <a:p>
                      <a:r>
                        <a:rPr lang="en-US" dirty="0">
                          <a:latin typeface="SamsungOne 600C" panose="020B0706030303020204"/>
                        </a:rPr>
                        <a:t>Model</a:t>
                      </a:r>
                      <a:endParaRPr lang="en-IN" dirty="0">
                        <a:latin typeface="SamsungOne 600C" panose="020B07060303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msungOne 600C" panose="020B0706030303020204"/>
                        </a:rPr>
                        <a:t>Accuracy(%)</a:t>
                      </a:r>
                      <a:endParaRPr lang="en-IN" dirty="0">
                        <a:latin typeface="SamsungOne 600C" panose="020B07060303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msungOne 600C" panose="020B0706030303020204"/>
                        </a:rPr>
                        <a:t>Size(MB)</a:t>
                      </a:r>
                      <a:endParaRPr lang="en-IN" dirty="0">
                        <a:latin typeface="SamsungOne 600C" panose="020B0706030303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455854"/>
                  </a:ext>
                </a:extLst>
              </a:tr>
              <a:tr h="510659">
                <a:tc>
                  <a:txBody>
                    <a:bodyPr/>
                    <a:lstStyle/>
                    <a:p>
                      <a:r>
                        <a:rPr lang="en-IN" dirty="0">
                          <a:latin typeface="SamsungOne 600C" panose="020B0706030303020204"/>
                        </a:rPr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SamsungOne 600C" panose="020B0706030303020204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SamsungOne 600C" panose="020B0706030303020204"/>
                        </a:rPr>
                        <a:t>23.65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14002"/>
                  </a:ext>
                </a:extLst>
              </a:tr>
              <a:tr h="510659">
                <a:tc>
                  <a:txBody>
                    <a:bodyPr/>
                    <a:lstStyle/>
                    <a:p>
                      <a:r>
                        <a:rPr lang="en-IN" dirty="0">
                          <a:latin typeface="SamsungOne 600C" panose="020B0706030303020204"/>
                        </a:rPr>
                        <a:t>Efficientnetb0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SamsungOne 600C" panose="020B0706030303020204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msungOne 600C" panose="020B0706030303020204"/>
                        </a:rPr>
                        <a:t>39</a:t>
                      </a:r>
                      <a:endParaRPr lang="en-IN" dirty="0">
                        <a:latin typeface="SamsungOne 600C" panose="020B0706030303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30350"/>
                  </a:ext>
                </a:extLst>
              </a:tr>
              <a:tr h="510659">
                <a:tc>
                  <a:txBody>
                    <a:bodyPr/>
                    <a:lstStyle/>
                    <a:p>
                      <a:r>
                        <a:rPr lang="en-IN" dirty="0">
                          <a:latin typeface="SamsungOne 600C" panose="020B0706030303020204"/>
                        </a:rPr>
                        <a:t>Mobilenetv3large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msungOne 600C" panose="020B0706030303020204"/>
                        </a:rPr>
                        <a:t>79</a:t>
                      </a:r>
                      <a:endParaRPr lang="en-IN" dirty="0">
                        <a:latin typeface="SamsungOne 600C" panose="020B07060303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msungOne 600C" panose="020B0706030303020204"/>
                        </a:rPr>
                        <a:t>30</a:t>
                      </a:r>
                      <a:endParaRPr lang="en-IN" dirty="0">
                        <a:latin typeface="SamsungOne 600C" panose="020B0706030303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8809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3161B0-58E2-E5A4-4911-0256DAA7ACD7}"/>
              </a:ext>
            </a:extLst>
          </p:cNvPr>
          <p:cNvSpPr txBox="1"/>
          <p:nvPr/>
        </p:nvSpPr>
        <p:spPr>
          <a:xfrm>
            <a:off x="2822713" y="5247861"/>
            <a:ext cx="5732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amsungOne 600C" panose="020B0706030303020204"/>
              </a:rPr>
              <a:t>After converting the </a:t>
            </a:r>
            <a:r>
              <a:rPr lang="en-IN" sz="1400" dirty="0">
                <a:latin typeface="SamsungOne 600C" panose="020B0706030303020204"/>
              </a:rPr>
              <a:t>Efficientnetb0 model to </a:t>
            </a:r>
            <a:r>
              <a:rPr lang="en-IN" sz="1400" dirty="0" err="1">
                <a:latin typeface="SamsungOne 600C" panose="020B0706030303020204"/>
              </a:rPr>
              <a:t>Tflite</a:t>
            </a:r>
            <a:r>
              <a:rPr lang="en-IN" sz="1400" dirty="0">
                <a:latin typeface="SamsungOne 600C" panose="020B0706030303020204"/>
              </a:rPr>
              <a:t> size reduced to 4.6 MB. The accuracy is 89%.</a:t>
            </a:r>
          </a:p>
        </p:txBody>
      </p:sp>
    </p:spTree>
    <p:extLst>
      <p:ext uri="{BB962C8B-B14F-4D97-AF65-F5344CB8AC3E}">
        <p14:creationId xmlns:p14="http://schemas.microsoft.com/office/powerpoint/2010/main" val="246001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AD38-DCB1-EF03-4D7F-EC6017C6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9DA118-1714-1AB0-AE6A-DE28B8663678}"/>
              </a:ext>
            </a:extLst>
          </p:cNvPr>
          <p:cNvSpPr/>
          <p:nvPr/>
        </p:nvSpPr>
        <p:spPr>
          <a:xfrm>
            <a:off x="219737" y="706508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0DFD1-4C22-73CA-C49A-5E8343FD8979}"/>
              </a:ext>
            </a:extLst>
          </p:cNvPr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8C179-FF4A-4F85-636C-78259F61FE2F}"/>
              </a:ext>
            </a:extLst>
          </p:cNvPr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EF6F0A-C8D4-A86A-3EF4-41CEFA1E0D2F}"/>
              </a:ext>
            </a:extLst>
          </p:cNvPr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C8C65B-4760-93FA-69A9-CB27590D832C}"/>
              </a:ext>
            </a:extLst>
          </p:cNvPr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110495-E283-461F-E198-029D6CAF1853}"/>
              </a:ext>
            </a:extLst>
          </p:cNvPr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41782C3-ED85-FE1E-FAE6-BC501BE58A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6CEFEC2-A488-7FB4-98C5-1B809473A67C}"/>
              </a:ext>
            </a:extLst>
          </p:cNvPr>
          <p:cNvSpPr/>
          <p:nvPr/>
        </p:nvSpPr>
        <p:spPr>
          <a:xfrm>
            <a:off x="219737" y="1790792"/>
            <a:ext cx="11773852" cy="4747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B899D6-F395-DB36-D7CA-B603F3406754}"/>
              </a:ext>
            </a:extLst>
          </p:cNvPr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C8E00-A97A-2836-03CE-5F1711F96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328" y="1974891"/>
            <a:ext cx="5019868" cy="3611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02EFAE-D7F7-8283-291B-1E473488F48C}"/>
              </a:ext>
            </a:extLst>
          </p:cNvPr>
          <p:cNvSpPr txBox="1"/>
          <p:nvPr/>
        </p:nvSpPr>
        <p:spPr>
          <a:xfrm>
            <a:off x="4842587" y="5770414"/>
            <a:ext cx="32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amsungOne 600C" panose="020B0706030303020204"/>
              </a:rPr>
              <a:t>Fig: Confusion Matrix</a:t>
            </a:r>
            <a:endParaRPr lang="en-IN" dirty="0">
              <a:latin typeface="SamsungOne 600C" panose="020B0706030303020204"/>
            </a:endParaRPr>
          </a:p>
        </p:txBody>
      </p:sp>
    </p:spTree>
    <p:extLst>
      <p:ext uri="{BB962C8B-B14F-4D97-AF65-F5344CB8AC3E}">
        <p14:creationId xmlns:p14="http://schemas.microsoft.com/office/powerpoint/2010/main" val="161296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E36D-E749-7764-B247-0E19D3CA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771A37-9829-9955-ABFB-5C1D5D6D78F2}"/>
              </a:ext>
            </a:extLst>
          </p:cNvPr>
          <p:cNvSpPr/>
          <p:nvPr/>
        </p:nvSpPr>
        <p:spPr>
          <a:xfrm>
            <a:off x="219737" y="706508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87282-9B74-6EEB-E96E-7826A44AF860}"/>
              </a:ext>
            </a:extLst>
          </p:cNvPr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1286B9-60FB-1769-3E88-1900902935C5}"/>
              </a:ext>
            </a:extLst>
          </p:cNvPr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416DEA-30FE-DBDF-AF58-9E288C12C0C0}"/>
              </a:ext>
            </a:extLst>
          </p:cNvPr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6D6C72-7F2B-644F-48B8-1FCF1A3B30EE}"/>
              </a:ext>
            </a:extLst>
          </p:cNvPr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A14DFE-1433-91AA-4F4C-6DF6DFABED82}"/>
              </a:ext>
            </a:extLst>
          </p:cNvPr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4F3C8F5-C118-DEF4-28AB-5198EC0B1C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D602FBF-B5D6-A812-C157-DC1FA2085FF2}"/>
              </a:ext>
            </a:extLst>
          </p:cNvPr>
          <p:cNvSpPr/>
          <p:nvPr/>
        </p:nvSpPr>
        <p:spPr>
          <a:xfrm>
            <a:off x="169333" y="1757201"/>
            <a:ext cx="11773852" cy="4747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0B5A8E-AB89-4C04-ADFA-F1215AA2D1CF}"/>
              </a:ext>
            </a:extLst>
          </p:cNvPr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49567-874A-5DC6-E4AB-DE4355000A09}"/>
              </a:ext>
            </a:extLst>
          </p:cNvPr>
          <p:cNvSpPr txBox="1"/>
          <p:nvPr/>
        </p:nvSpPr>
        <p:spPr>
          <a:xfrm>
            <a:off x="5162938" y="5966826"/>
            <a:ext cx="32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amsungOne 600C" panose="020B0706030303020204"/>
              </a:rPr>
              <a:t>Fig: ROC Curve  </a:t>
            </a:r>
            <a:endParaRPr lang="en-IN" dirty="0">
              <a:latin typeface="SamsungOne 600C" panose="020B0706030303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132A9E-AFA2-CC4D-60E7-6BF7E8D11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180" y="1945780"/>
            <a:ext cx="3909527" cy="402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8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9AFCC-84C1-9139-4BAE-37FBF82C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9E0E7E-2939-30DF-A617-194DAB2B483C}"/>
              </a:ext>
            </a:extLst>
          </p:cNvPr>
          <p:cNvSpPr/>
          <p:nvPr/>
        </p:nvSpPr>
        <p:spPr>
          <a:xfrm>
            <a:off x="219737" y="706508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18D891-06E1-C9B1-7C6A-F5037CFF137D}"/>
              </a:ext>
            </a:extLst>
          </p:cNvPr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504EA2-54F9-9809-ADA4-DFB5EBA94871}"/>
              </a:ext>
            </a:extLst>
          </p:cNvPr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1CDFB7-0F1B-34E0-3238-25CA05E41D19}"/>
              </a:ext>
            </a:extLst>
          </p:cNvPr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41F76E-6131-A9A3-DBCE-891E246D3B08}"/>
              </a:ext>
            </a:extLst>
          </p:cNvPr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A2294C-A68C-337D-EB54-F59A10577434}"/>
              </a:ext>
            </a:extLst>
          </p:cNvPr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C0BFEB1-8B5C-702A-FD93-9085AD1C94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F1A3FEB-77A0-A26E-F76D-31C0CCF683A5}"/>
              </a:ext>
            </a:extLst>
          </p:cNvPr>
          <p:cNvSpPr/>
          <p:nvPr/>
        </p:nvSpPr>
        <p:spPr>
          <a:xfrm>
            <a:off x="597159" y="2034007"/>
            <a:ext cx="11427581" cy="39717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 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[Disease 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Datatset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yet not available. </a:t>
            </a:r>
            <a:r>
              <a:rPr lang="en-US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The </a:t>
            </a:r>
            <a:r>
              <a:rPr lang="en-US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roboflow</a:t>
            </a:r>
            <a:r>
              <a:rPr lang="en-US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dataset provided had 157 classes, many classes of similar plants caused overfitting. To overcome that                we reduced it to 32 classes with no image loss and increased accuracy by 9%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.]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4890C9-2E87-10B4-4964-E5FEBFB6D346}"/>
              </a:ext>
            </a:extLst>
          </p:cNvPr>
          <p:cNvSpPr/>
          <p:nvPr/>
        </p:nvSpPr>
        <p:spPr>
          <a:xfrm>
            <a:off x="597159" y="2228259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Challenges/ Issues faced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BE185D-B320-4C3A-D23F-9B70B39CF7A6}"/>
              </a:ext>
            </a:extLst>
          </p:cNvPr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17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19737" y="706508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2034007"/>
            <a:ext cx="11840507" cy="39745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13265" y="2267339"/>
            <a:ext cx="698327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Next Steps 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[After getting the disease dataset we can train the same model on the 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datatset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91A37-D5F1-2D44-4909-D88C1520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C9868A-AD40-5347-C1F9-C56CC07D82F6}"/>
              </a:ext>
            </a:extLst>
          </p:cNvPr>
          <p:cNvSpPr/>
          <p:nvPr/>
        </p:nvSpPr>
        <p:spPr>
          <a:xfrm>
            <a:off x="219737" y="706508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BA8A7-F73C-6D61-4008-AA7D35892664}"/>
              </a:ext>
            </a:extLst>
          </p:cNvPr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F6697-5B6C-7EE1-2841-6D5B97A93A4B}"/>
              </a:ext>
            </a:extLst>
          </p:cNvPr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2FA98-DBA8-E786-1E33-E84F6827E36C}"/>
              </a:ext>
            </a:extLst>
          </p:cNvPr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6E9026-1D99-2D55-9336-5E47C639759C}"/>
              </a:ext>
            </a:extLst>
          </p:cNvPr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C056C2-3A6E-7EC4-9207-A8C8FE897212}"/>
              </a:ext>
            </a:extLst>
          </p:cNvPr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B9062A1-6908-3855-05DC-C07EC88F62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9421A94C-1074-522E-C2FC-AF68FB91B432}"/>
              </a:ext>
            </a:extLst>
          </p:cNvPr>
          <p:cNvSpPr/>
          <p:nvPr/>
        </p:nvSpPr>
        <p:spPr>
          <a:xfrm>
            <a:off x="283464" y="2034007"/>
            <a:ext cx="11724305" cy="39695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[Made a model on the plant identification. Best Model is Mobilenetv2 with 88% accuracy and 23.65 MB size and EfficientnetB0 with 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Tflite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with size 4.6MB and 89% accuracy.]</a:t>
            </a: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2F7ABC-6F19-61BE-2D8F-E86A91D4F885}"/>
              </a:ext>
            </a:extLst>
          </p:cNvPr>
          <p:cNvSpPr/>
          <p:nvPr/>
        </p:nvSpPr>
        <p:spPr>
          <a:xfrm>
            <a:off x="313266" y="2261634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132ADC-584E-2272-740E-3569D4DF8EAC}"/>
              </a:ext>
            </a:extLst>
          </p:cNvPr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7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[Disease Dataset]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Anticipated Break (Due to exams </a:t>
            </a:r>
            <a:r>
              <a:rPr lang="en-IN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)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[Exams: 24.01.26 to 31.01.26]</a:t>
            </a: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Resource Requirement Identified with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dataset link: </a:t>
            </a:r>
          </a:p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https://www.kaggle.com/datasets/vishwaraj1523/mergerplantdataset</a:t>
            </a: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: 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3"/>
              </a:rPr>
              <a:t>https://github.ecodesamsung.com/SRIB-PRISM/25ST17_Plant_and_Disease_Classification.git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Repository Link and PRISM Portal Registration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8668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C023-FC1E-A94C-C1BA-6745B37B2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D790F2-DDE1-EF35-A5A8-ACFE5D09A488}"/>
              </a:ext>
            </a:extLst>
          </p:cNvPr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44A0F-5C28-7AB7-3BA9-90EDC99FB7C8}"/>
              </a:ext>
            </a:extLst>
          </p:cNvPr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FC8D58-D2D2-26DC-EE02-B26E30C63ACC}"/>
              </a:ext>
            </a:extLst>
          </p:cNvPr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B097F-D18D-AAE0-C763-3938712210FC}"/>
              </a:ext>
            </a:extLst>
          </p:cNvPr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0F0D56-252D-66BD-E94F-55F426C53B77}"/>
              </a:ext>
            </a:extLst>
          </p:cNvPr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E2F7D0-2EBB-FC33-A566-5D9CD764B426}"/>
              </a:ext>
            </a:extLst>
          </p:cNvPr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7660A4C-423C-3321-7435-DD9C129BE50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48E47EA-5EB0-9926-3784-AEB5DF137CE8}"/>
              </a:ext>
            </a:extLst>
          </p:cNvPr>
          <p:cNvSpPr/>
          <p:nvPr/>
        </p:nvSpPr>
        <p:spPr>
          <a:xfrm>
            <a:off x="313266" y="1962222"/>
            <a:ext cx="11724305" cy="4684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dataset link: 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  <a:hlinkClick r:id="rId3"/>
              </a:rPr>
              <a:t>https://www.kaggle.com/datasets/vishwaraj1523/mergerplantdataset</a:t>
            </a:r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3 Directories i.e. Test, Train and Valid. 32 Classes for different plants. </a:t>
            </a:r>
          </a:p>
          <a:p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10 sample classes:</a:t>
            </a:r>
          </a:p>
          <a:p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         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adenium_obesum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		alocasia	                   anthurium		calathea 		dracaena		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ficus</a:t>
            </a:r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	kalanchoe			peperomia			pilea			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scindapsus</a:t>
            </a:r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	</a:t>
            </a: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E972BD-CE5B-A2A5-9160-A05B645CC6CB}"/>
              </a:ext>
            </a:extLst>
          </p:cNvPr>
          <p:cNvSpPr/>
          <p:nvPr/>
        </p:nvSpPr>
        <p:spPr>
          <a:xfrm>
            <a:off x="313266" y="2001062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809130-FE5C-5B3B-CF2D-EC8FE54061BB}"/>
              </a:ext>
            </a:extLst>
          </p:cNvPr>
          <p:cNvSpPr txBox="1"/>
          <p:nvPr/>
        </p:nvSpPr>
        <p:spPr>
          <a:xfrm>
            <a:off x="10040112" y="6488668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FBF8BD-FC30-A856-2626-13FB6A13A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89" y="3210622"/>
            <a:ext cx="1297773" cy="129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A884BBD-3B6E-D26A-84EF-2C9DFA91D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983" y="3252144"/>
            <a:ext cx="1256251" cy="125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35A65B-CC91-AB03-BD48-98CC0160F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80" y="3302618"/>
            <a:ext cx="1303459" cy="125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A44072D-8FD6-1EED-C5B9-565BE8C66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093" y="3297816"/>
            <a:ext cx="1303460" cy="130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08791095-A504-1489-4101-7A348A883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998" y="3302618"/>
            <a:ext cx="1303461" cy="130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211B920C-3499-B466-85D8-F70579E11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994" y="3276600"/>
            <a:ext cx="1303459" cy="130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EC4181-3E9F-757F-1A72-2DF5FBD670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946" y="5208670"/>
            <a:ext cx="1264849" cy="1264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857425-CE7E-6DBE-6E26-8F072E86BC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0462" y="5278595"/>
            <a:ext cx="1140391" cy="1140391"/>
          </a:xfrm>
          <a:prstGeom prst="rect">
            <a:avLst/>
          </a:prstGeom>
        </p:spPr>
      </p:pic>
      <p:sp>
        <p:nvSpPr>
          <p:cNvPr id="7" name="AutoShape 26">
            <a:extLst>
              <a:ext uri="{FF2B5EF4-FFF2-40B4-BE49-F238E27FC236}">
                <a16:creationId xmlns:a16="http://schemas.microsoft.com/office/drawing/2014/main" id="{FD4E65DE-797B-6A82-E153-27610A29CA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998E77-AD55-A9AD-7863-42940EA632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2986" y="5187716"/>
            <a:ext cx="1231270" cy="1231270"/>
          </a:xfrm>
          <a:prstGeom prst="rect">
            <a:avLst/>
          </a:prstGeom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FDA7EA63-6BCB-5B7F-4710-921181521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636" y="5181900"/>
            <a:ext cx="1231269" cy="123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31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/>
              <a:t>Plant and Disease Classification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>
                <a:solidFill>
                  <a:schemeClr val="bg1"/>
                </a:solidFill>
              </a:rPr>
              <a:t>25ST17 </a:t>
            </a: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>
                <a:solidFill>
                  <a:schemeClr val="bg1"/>
                </a:solidFill>
              </a:rPr>
              <a:t>VITC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Status and future plan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Latest Literature Review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Expert Insights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other comment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6407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Professor Comments (To be filled in and presented by professor </a:t>
            </a:r>
            <a:r>
              <a:rPr lang="en-IN" b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(Either)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19.12.2025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COMPUTATION RESOURCE Details: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19088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[Google Collab and Kaggle]</a:t>
            </a: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5068</TotalTime>
  <Words>528</Words>
  <Application>Microsoft Office PowerPoint</Application>
  <PresentationFormat>Widescreen</PresentationFormat>
  <Paragraphs>143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TG0910419 Swayam Pani</cp:lastModifiedBy>
  <cp:revision>66</cp:revision>
  <cp:lastPrinted>2019-06-27T12:08:24Z</cp:lastPrinted>
  <dcterms:created xsi:type="dcterms:W3CDTF">2019-04-12T08:37:01Z</dcterms:created>
  <dcterms:modified xsi:type="dcterms:W3CDTF">2025-12-19T11:01:17Z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
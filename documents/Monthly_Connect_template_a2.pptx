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dd28b63a_2_75:notes"/>
          <p:cNvSpPr txBox="1"/>
          <p:nvPr>
            <p:ph idx="1" type="body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4dd28b63a_2_75:notes"/>
          <p:cNvSpPr/>
          <p:nvPr>
            <p:ph idx="2" type="sldImg"/>
          </p:nvPr>
        </p:nvSpPr>
        <p:spPr>
          <a:xfrm>
            <a:off x="426022" y="1143366"/>
            <a:ext cx="6005955" cy="3085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4dd28b63a_0_36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4dd28b63a_0_36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4dd28b63a_0_51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4dd28b63a_0_51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4dd28b63a_0_1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4dd28b63a_0_1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4dd28b63a_0_65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4dd28b63a_0_65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4dd28b63a_0_86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4dd28b63a_0_86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4dd28b63a_0_110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4dd28b63a_0_110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4dd28b63a_0_126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4dd28b63a_0_126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4dd28b63a_0_140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94dd28b63a_0_140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4dd28b63a_0_169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4dd28b63a_0_169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4dd28b63a_0_185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94dd28b63a_0_185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4dd28b63a_0_242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94dd28b63a_0_242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4dd28b63a_0_261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4dd28b63a_0_261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4dd28b63a_0_280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94dd28b63a_0_280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4dd28b63a_0_304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4dd28b63a_0_304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4dd28b63a_2_114:notes"/>
          <p:cNvSpPr txBox="1"/>
          <p:nvPr>
            <p:ph idx="1" type="body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94dd28b63a_2_114:notes"/>
          <p:cNvSpPr/>
          <p:nvPr>
            <p:ph idx="2" type="sldImg"/>
          </p:nvPr>
        </p:nvSpPr>
        <p:spPr>
          <a:xfrm>
            <a:off x="426022" y="1143366"/>
            <a:ext cx="6005955" cy="3085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4dd28b63a_0_328:notes"/>
          <p:cNvSpPr txBox="1"/>
          <p:nvPr>
            <p:ph idx="1" type="body"/>
          </p:nvPr>
        </p:nvSpPr>
        <p:spPr>
          <a:xfrm>
            <a:off x="685801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94dd28b63a_0_328:notes"/>
          <p:cNvSpPr/>
          <p:nvPr>
            <p:ph idx="2" type="sldImg"/>
          </p:nvPr>
        </p:nvSpPr>
        <p:spPr>
          <a:xfrm>
            <a:off x="426022" y="1143366"/>
            <a:ext cx="6006000" cy="3084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www.kaggle.com/datasets/abdallahalidev/plantvillage-datase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25446" y="525309"/>
            <a:ext cx="8880380" cy="693105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1" y="78784"/>
            <a:ext cx="126999" cy="361898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286423" y="109691"/>
            <a:ext cx="7517507" cy="300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178475" y="78784"/>
            <a:ext cx="56475" cy="36189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129868" y="536739"/>
            <a:ext cx="12505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212598" y="832400"/>
            <a:ext cx="312539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26842" l="4529" r="4175" t="20267"/>
          <a:stretch/>
        </p:blipFill>
        <p:spPr>
          <a:xfrm>
            <a:off x="8206561" y="78784"/>
            <a:ext cx="937438" cy="3561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/>
          <p:nvPr/>
        </p:nvSpPr>
        <p:spPr>
          <a:xfrm>
            <a:off x="125454" y="1527860"/>
            <a:ext cx="8880300" cy="33390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7" name="Google Shape;137;p25"/>
          <p:cNvSpPr/>
          <p:nvPr/>
        </p:nvSpPr>
        <p:spPr>
          <a:xfrm>
            <a:off x="199325" y="1582650"/>
            <a:ext cx="251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KPIs achieved till</a:t>
            </a: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E409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E4094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299975" y="1909600"/>
            <a:ext cx="845070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Experimentation of different model architectures: We implemented and tested 2 CNN models to achieve lighterweigh models giving 90% + accuracies on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plant diseases dataset.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/>
          <p:nvPr/>
        </p:nvSpPr>
        <p:spPr>
          <a:xfrm>
            <a:off x="125454" y="1527860"/>
            <a:ext cx="8880300" cy="33390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299975" y="1704750"/>
            <a:ext cx="8450700" cy="29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1 – MobileNetV2 with Simple Classification Head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Pre-trained MobileNetV2 on ImageNet (frozen base)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GlobalAveragePooling2D layer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Dropout (0.2)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Dense output layer with sigmoid activation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Strategy: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1: 6 initial epochs with frozen base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2: Fine-tuning from layer 100 onwards for 10 additional epochs (16 total)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Loss: SparseCategoricalCrossentropy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Optimizer: Adam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/>
          <p:nvPr/>
        </p:nvSpPr>
        <p:spPr>
          <a:xfrm>
            <a:off x="125454" y="1527860"/>
            <a:ext cx="8880300" cy="33390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6" name="Google Shape;166;p27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299975" y="1601300"/>
            <a:ext cx="84507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2 – MobileNetV2 with Deep Classification Head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Pre-trained MobileNetV2 on ImageNet (frozen base)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GlobalAveragePooling2D layer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Dense layer (configurable units) with ReLU activation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Dropout layer (configurable rate)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Dense output layer with softmax activation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Strategy: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1: Custom head training with frozen base + callbacks (EarlyStopping, ReduceLROnPlateau, ModelCheckpoint)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2: Fine-tuning top 30% of base layers with reduced learning rate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Loss: Categorical Crossentropy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Optimizer: Adam (different learning rates per phase)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129867" y="1396160"/>
            <a:ext cx="8880300" cy="34707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0" name="Google Shape;180;p28"/>
          <p:cNvSpPr/>
          <p:nvPr/>
        </p:nvSpPr>
        <p:spPr>
          <a:xfrm>
            <a:off x="178468" y="1484794"/>
            <a:ext cx="230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Any Challenges/ Issues faced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234875" y="2202275"/>
            <a:ext cx="65850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required dataset was not available yet.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Currently using a placeholder public dataset (e.g., PlantVillage) for pipeline testing and model benchmarking.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/>
          <p:nvPr/>
        </p:nvSpPr>
        <p:spPr>
          <a:xfrm>
            <a:off x="125454" y="1397736"/>
            <a:ext cx="8844600" cy="33873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125450" y="1447926"/>
            <a:ext cx="4400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7522768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256075" y="1858400"/>
            <a:ext cx="8479800" cy="2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Mobile Application Prototype Development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 an Android/iOS mobile application for real-time plant disease classification using the trained MobileNetV2 model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 a Conditional GAN (cGAN) or StyleGAN2-ADA architecture to generate synthetic home plant disease images​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Implementation Steps: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 seed dataset (minimum 100-500 images per disease class)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 DCGAN/StyleGAN2 architecture with disease class conditioning for targeted generation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 GAN for 50-200 epochs with progressive quality monitoring using FID and IS metrics​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299975" y="1821800"/>
            <a:ext cx="82677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Development &amp; Implementation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Successfully designed and implemented two distinct MobileNetV2-based transfer learning architectures with different classification head complexities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Implemented two-phase fine-tuning strategies (frozen base + custom head training, followed by selective layer unfreezing)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1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1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1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299975" y="1821800"/>
            <a:ext cx="82677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1: MobileNetV2 with Simple Classification Head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Accuracy: 95.54%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Size: 25 MB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2: MobileNetV2 with Deep Classification Head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Accuracy: 97.00%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Size: 10.75 MB (57% smaller than Architecture 1)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299975" y="1821800"/>
            <a:ext cx="82677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1: MobileNetV2 with Simple Classification Head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Accuracy: 95.54%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Size: 25 MB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Architecture 2: MobileNetV2 with Deep Classification Head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Accuracy: 97.00%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Size: 10.75 MB (57% smaller than Architecture 1)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299975" y="1821800"/>
            <a:ext cx="82677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75" y="1725675"/>
            <a:ext cx="8567675" cy="300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299975" y="1821800"/>
            <a:ext cx="82677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575" y="1755975"/>
            <a:ext cx="8584852" cy="295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b="1" lang="en" sz="1100">
                <a:solidFill>
                  <a:srgbClr val="222222"/>
                </a:solidFill>
                <a:highlight>
                  <a:srgbClr val="FFFFFF"/>
                </a:highlight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5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5"/>
          <p:cNvSpPr/>
          <p:nvPr/>
        </p:nvSpPr>
        <p:spPr>
          <a:xfrm>
            <a:off x="178482" y="1333904"/>
            <a:ext cx="8791500" cy="34878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178477" y="1387850"/>
            <a:ext cx="352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Key Achievements/ Outcome till now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16/10/2025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299975" y="1821800"/>
            <a:ext cx="82677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875" y="36575"/>
            <a:ext cx="8880301" cy="5070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6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25-ST1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6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/>
          <p:nvPr/>
        </p:nvSpPr>
        <p:spPr>
          <a:xfrm>
            <a:off x="209242" y="1462010"/>
            <a:ext cx="8796600" cy="33522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178468" y="1521369"/>
            <a:ext cx="42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Github Repository Link and PRISM Portal Registration Status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380450" y="2224225"/>
            <a:ext cx="37752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eCODE registration complete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7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7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25-ST1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/>
          <p:nvPr/>
        </p:nvSpPr>
        <p:spPr>
          <a:xfrm>
            <a:off x="96179" y="1405036"/>
            <a:ext cx="8808000" cy="33801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96172" y="1455227"/>
            <a:ext cx="44007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Any Anticipated Break (Due to exams etc)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03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E4094"/>
                </a:solidFill>
              </a:rPr>
              <a:t>FAT Exams: 17 November - 2 December 2025</a:t>
            </a:r>
            <a:endParaRPr b="1" sz="11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8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25-ST1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38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8"/>
          <p:cNvSpPr/>
          <p:nvPr/>
        </p:nvSpPr>
        <p:spPr>
          <a:xfrm>
            <a:off x="126907" y="1368603"/>
            <a:ext cx="8878800" cy="33567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126893" y="1422559"/>
            <a:ext cx="196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Data Collection Information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263400" y="2041300"/>
            <a:ext cx="8662800" cy="1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 Village Dataset: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https://www.kaggle.com/datasets/abdallahalidev/plantvillage-dataset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202124"/>
                </a:solidFill>
                <a:highlight>
                  <a:srgbClr val="D8D8D8"/>
                </a:highlight>
                <a:latin typeface="Roboto"/>
                <a:ea typeface="Roboto"/>
                <a:cs typeface="Roboto"/>
                <a:sym typeface="Roboto"/>
              </a:rPr>
              <a:t>The PlantVillage dataset consists of 54303 healthy and unhealthy leaf images divided into 38 categories by species and disease.</a:t>
            </a:r>
            <a:endParaRPr sz="1700">
              <a:solidFill>
                <a:srgbClr val="202124"/>
              </a:solidFill>
              <a:highlight>
                <a:srgbClr val="D8D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9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9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9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25-ST1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39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9"/>
          <p:cNvSpPr/>
          <p:nvPr/>
        </p:nvSpPr>
        <p:spPr>
          <a:xfrm>
            <a:off x="126907" y="1368603"/>
            <a:ext cx="8878800" cy="33567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9"/>
          <p:cNvSpPr/>
          <p:nvPr/>
        </p:nvSpPr>
        <p:spPr>
          <a:xfrm>
            <a:off x="126893" y="1422559"/>
            <a:ext cx="196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Data Collection Information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 txBox="1"/>
          <p:nvPr/>
        </p:nvSpPr>
        <p:spPr>
          <a:xfrm>
            <a:off x="263400" y="2041300"/>
            <a:ext cx="8662800" cy="1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8950" y="1422551"/>
            <a:ext cx="5010498" cy="329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/>
          <p:nvPr/>
        </p:nvSpPr>
        <p:spPr>
          <a:xfrm>
            <a:off x="125446" y="525309"/>
            <a:ext cx="8880380" cy="693105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/>
          <p:nvPr/>
        </p:nvSpPr>
        <p:spPr>
          <a:xfrm>
            <a:off x="1" y="78784"/>
            <a:ext cx="126999" cy="361898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286423" y="109691"/>
            <a:ext cx="7517507" cy="300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178475" y="78784"/>
            <a:ext cx="56475" cy="36189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0"/>
          <p:cNvSpPr/>
          <p:nvPr/>
        </p:nvSpPr>
        <p:spPr>
          <a:xfrm>
            <a:off x="129868" y="536739"/>
            <a:ext cx="12505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0"/>
          <p:cNvSpPr/>
          <p:nvPr/>
        </p:nvSpPr>
        <p:spPr>
          <a:xfrm>
            <a:off x="212598" y="832400"/>
            <a:ext cx="3125396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0"/>
          <p:cNvPicPr preferRelativeResize="0"/>
          <p:nvPr/>
        </p:nvPicPr>
        <p:blipFill rotWithShape="1">
          <a:blip r:embed="rId3">
            <a:alphaModFix/>
          </a:blip>
          <a:srcRect b="26842" l="4529" r="4175" t="20267"/>
          <a:stretch/>
        </p:blipFill>
        <p:spPr>
          <a:xfrm>
            <a:off x="8206561" y="78784"/>
            <a:ext cx="937438" cy="356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0"/>
          <p:cNvSpPr/>
          <p:nvPr/>
        </p:nvSpPr>
        <p:spPr>
          <a:xfrm>
            <a:off x="125450" y="1527859"/>
            <a:ext cx="8880300" cy="32571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0"/>
          <p:cNvSpPr/>
          <p:nvPr/>
        </p:nvSpPr>
        <p:spPr>
          <a:xfrm>
            <a:off x="199326" y="1582647"/>
            <a:ext cx="48055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Professor Comments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0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0"/>
          <p:cNvSpPr txBox="1"/>
          <p:nvPr/>
        </p:nvSpPr>
        <p:spPr>
          <a:xfrm>
            <a:off x="241450" y="2151050"/>
            <a:ext cx="8640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 Status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and tested two MobileNetV2-based transfer learning architectures on placeholder plant dataset achieving 95.54% (Architecture 1, 25 MB) and 97.00% (Architecture 2, 10.75 MB) test accuracy with production-ready training pipelines​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Steps (Future Work)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 mobile app prototype with TensorFlow Lite integration, implement GAN pipeline for synthetic home plant disease dataset generation, and validate models on GAN-generated data until actual curated dataset becomes available from partner team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/>
          <p:nvPr/>
        </p:nvSpPr>
        <p:spPr>
          <a:xfrm>
            <a:off x="125446" y="525309"/>
            <a:ext cx="8880300" cy="693000"/>
          </a:xfrm>
          <a:prstGeom prst="rect">
            <a:avLst/>
          </a:prstGeom>
          <a:solidFill>
            <a:srgbClr val="3F3F3F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1"/>
          <p:cNvSpPr/>
          <p:nvPr/>
        </p:nvSpPr>
        <p:spPr>
          <a:xfrm>
            <a:off x="1" y="78784"/>
            <a:ext cx="126900" cy="361800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1"/>
          <p:cNvSpPr txBox="1"/>
          <p:nvPr/>
        </p:nvSpPr>
        <p:spPr>
          <a:xfrm>
            <a:off x="286423" y="109690"/>
            <a:ext cx="7517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Work-let Name: </a:t>
            </a:r>
            <a:r>
              <a:rPr lang="en" sz="1500">
                <a:solidFill>
                  <a:srgbClr val="7F7F7F"/>
                </a:solidFill>
              </a:rPr>
              <a:t>Plant and Disease Classification</a:t>
            </a:r>
            <a:endParaRPr sz="15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1"/>
          <p:cNvSpPr/>
          <p:nvPr/>
        </p:nvSpPr>
        <p:spPr>
          <a:xfrm>
            <a:off x="178475" y="78784"/>
            <a:ext cx="56400" cy="3618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129868" y="536739"/>
            <a:ext cx="125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Worklet Details</a:t>
            </a:r>
            <a:endParaRPr b="1" sz="14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1"/>
          <p:cNvSpPr/>
          <p:nvPr/>
        </p:nvSpPr>
        <p:spPr>
          <a:xfrm>
            <a:off x="212598" y="832400"/>
            <a:ext cx="312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Worklet ID: </a:t>
            </a:r>
            <a:r>
              <a:rPr lang="en" sz="900">
                <a:solidFill>
                  <a:schemeClr val="lt1"/>
                </a:solidFill>
              </a:rPr>
              <a:t>25ST1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AutoNum type="arabicPeriod"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College Name: </a:t>
            </a:r>
            <a:r>
              <a:rPr lang="en" sz="900">
                <a:solidFill>
                  <a:schemeClr val="lt1"/>
                </a:solidFill>
              </a:rPr>
              <a:t>Vellore Institute of Technology, Chennai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41"/>
          <p:cNvPicPr preferRelativeResize="0"/>
          <p:nvPr/>
        </p:nvPicPr>
        <p:blipFill rotWithShape="1">
          <a:blip r:embed="rId3">
            <a:alphaModFix/>
          </a:blip>
          <a:srcRect b="26842" l="4528" r="4172" t="20268"/>
          <a:stretch/>
        </p:blipFill>
        <p:spPr>
          <a:xfrm>
            <a:off x="8206561" y="78784"/>
            <a:ext cx="937439" cy="35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1"/>
          <p:cNvSpPr txBox="1"/>
          <p:nvPr/>
        </p:nvSpPr>
        <p:spPr>
          <a:xfrm>
            <a:off x="7530084" y="4866894"/>
            <a:ext cx="161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">
                <a:solidFill>
                  <a:schemeClr val="dk1"/>
                </a:solidFill>
              </a:rPr>
              <a:t>17/10/2025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1"/>
          <p:cNvSpPr/>
          <p:nvPr/>
        </p:nvSpPr>
        <p:spPr>
          <a:xfrm>
            <a:off x="88875" y="1373358"/>
            <a:ext cx="8880300" cy="3285600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1" marL="76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132949" y="1538394"/>
            <a:ext cx="2421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E4094"/>
                </a:solidFill>
                <a:latin typeface="Arial"/>
                <a:ea typeface="Arial"/>
                <a:cs typeface="Arial"/>
                <a:sym typeface="Arial"/>
              </a:rPr>
              <a:t>COMPUTATION RESOURCE Details:</a:t>
            </a:r>
            <a:endParaRPr b="1" sz="1400">
              <a:solidFill>
                <a:srgbClr val="0E40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 txBox="1"/>
          <p:nvPr/>
        </p:nvSpPr>
        <p:spPr>
          <a:xfrm>
            <a:off x="299975" y="2238850"/>
            <a:ext cx="59190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 GPU (Google Colab and Kaggle)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